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SemiBold"/>
      <p:regular r:id="rId201315"/>
    </p:embeddedFont>
    <p:embeddedFont>
      <p:font typeface="Inter Bold"/>
      <p:regular r:id="rId201316"/>
    </p:embeddedFont>
    <p:embeddedFont>
      <p:font typeface="Inter"/>
      <p:regular r:id="rId201317"/>
    </p:embeddedFont>
    <p:embeddedFont>
      <p:font typeface="Space Grotesk SemiBold"/>
      <p:regular r:id="rId201318"/>
    </p:embeddedFont>
    <p:embeddedFont>
      <p:font typeface="Space Grotesk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B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44220"/>
            <a:ext cx="8756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PULSECART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139428"/>
            <a:ext cx="8146846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9600" b="1" spc="-144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PulseCart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65156" y="2442766"/>
            <a:ext cx="814684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spc="-30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Quick-commerce operator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5156" y="3080941"/>
            <a:ext cx="8146846" cy="103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Track 02 · Customers, Channels &amp; Demand</a:t>
            </a:r>
            <a:endParaRPr lang="en-US" sz="1250" dirty="0"/>
          </a:p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Built on Exasol · Powered by Groq LLMs · MIT License · 2026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Demo: 97 seconds · 4 dark stores · Bengaluru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THE LEAK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60041"/>
            <a:ext cx="109725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400" b="1" spc="-108" kern="100" dirty="0">
                <a:solidFill>
                  <a:srgbClr val="F4F6F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Quick-commerce loses 8–12% of revenue to four silent killers.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09585" y="2483564"/>
            <a:ext cx="1097252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Operators run fragmented order, loyalty, support, returns, and guest systems; no system connects the same customer across them.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300611"/>
            <a:ext cx="2400240" cy="2891631"/>
          </a:xfrm>
          <a:prstGeom prst="roundRect">
            <a:avLst>
              <a:gd name="adj" fmla="val 1349"/>
            </a:avLst>
          </a:prstGeom>
          <a:solidFill>
            <a:srgbClr val="3A3D41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529211"/>
            <a:ext cx="96021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838179" y="3942596"/>
            <a:ext cx="194305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Identity fragmentation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79" y="4714200"/>
            <a:ext cx="194305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Burner aliases exploit promo gaps.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67013" y="3300611"/>
            <a:ext cx="2400240" cy="2891631"/>
          </a:xfrm>
          <a:prstGeom prst="roundRect">
            <a:avLst>
              <a:gd name="adj" fmla="val 1349"/>
            </a:avLst>
          </a:prstGeom>
          <a:solidFill>
            <a:srgbClr val="3A3D41"/>
          </a:solidFill>
          <a:ln/>
        </p:spPr>
      </p:sp>
      <p:sp>
        <p:nvSpPr>
          <p:cNvPr id="10" name="Text 8"/>
          <p:cNvSpPr/>
          <p:nvPr/>
        </p:nvSpPr>
        <p:spPr>
          <a:xfrm>
            <a:off x="3695608" y="3529211"/>
            <a:ext cx="102500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3695608" y="3942596"/>
            <a:ext cx="194305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Silent stockouts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608" y="4405630"/>
            <a:ext cx="1943051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Customers discover the failure after the order fails.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24442" y="3300611"/>
            <a:ext cx="2400240" cy="2891631"/>
          </a:xfrm>
          <a:prstGeom prst="roundRect">
            <a:avLst>
              <a:gd name="adj" fmla="val 1349"/>
            </a:avLst>
          </a:prstGeom>
          <a:solidFill>
            <a:srgbClr val="3A3D41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36" y="3529211"/>
            <a:ext cx="102927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553036" y="3942596"/>
            <a:ext cx="194305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Unused churn signals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3036" y="4714200"/>
            <a:ext cx="1943051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70–80% of churn intent sits in unread free-text tickets.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81870" y="3300611"/>
            <a:ext cx="2400240" cy="2891631"/>
          </a:xfrm>
          <a:prstGeom prst="roundRect">
            <a:avLst>
              <a:gd name="adj" fmla="val 1349"/>
            </a:avLst>
          </a:prstGeom>
          <a:solidFill>
            <a:srgbClr val="3A3D41"/>
          </a:solidFill>
          <a:ln/>
        </p:spPr>
      </p:sp>
      <p:sp>
        <p:nvSpPr>
          <p:cNvPr id="18" name="Text 16"/>
          <p:cNvSpPr/>
          <p:nvPr/>
        </p:nvSpPr>
        <p:spPr>
          <a:xfrm>
            <a:off x="9410465" y="3529211"/>
            <a:ext cx="103899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410465" y="3942596"/>
            <a:ext cx="194305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Unattributed returns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0465" y="4714200"/>
            <a:ext cx="1943051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Logistics events hide profit-eroding customer behavior.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9585" y="6388616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The root cause is not four problems. It is one: the absence of a unified customer record.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07430" y="6451898"/>
            <a:ext cx="38426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THE OPERATOR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2576"/>
            <a:ext cx="1097252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One dashboard. Four modules. Zero leakage.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80885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PulseCart unifies identity, inventory, churn, and returns intelligence into one operator view, built on Exasol.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184896"/>
            <a:ext cx="2628834" cy="3129657"/>
          </a:xfrm>
          <a:prstGeom prst="roundRect">
            <a:avLst>
              <a:gd name="adj" fmla="val 1232"/>
            </a:avLst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2446516"/>
            <a:ext cx="237484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578" y="2726472"/>
            <a:ext cx="212084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Identity &amp; Fraud Guard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578" y="3498076"/>
            <a:ext cx="2120847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Fuzzy-matched golden IDs block promo abuse at 0.85 similarity.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90815" y="2184896"/>
            <a:ext cx="2628834" cy="3129657"/>
          </a:xfrm>
          <a:prstGeom prst="roundRect">
            <a:avLst>
              <a:gd name="adj" fmla="val 1232"/>
            </a:avLst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4809" y="2446516"/>
            <a:ext cx="237484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44809" y="2726472"/>
            <a:ext cx="212084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Predictive Inventory Radar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44809" y="3498076"/>
            <a:ext cx="2120847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Six-hour stockout predictions per dark store with one-click reorder.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046" y="2184896"/>
            <a:ext cx="2628834" cy="3129657"/>
          </a:xfrm>
          <a:prstGeom prst="roundRect">
            <a:avLst>
              <a:gd name="adj" fmla="val 1232"/>
            </a:avLst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6039" y="2446516"/>
            <a:ext cx="237484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6039" y="2726472"/>
            <a:ext cx="212084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Autonomous Customer Success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26039" y="3498076"/>
            <a:ext cx="2120847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Groq classifies every ticket and returns a retention offer in two seconds.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53276" y="2184896"/>
            <a:ext cx="2628834" cy="3129657"/>
          </a:xfrm>
          <a:prstGeom prst="roundRect">
            <a:avLst>
              <a:gd name="adj" fmla="val 1232"/>
            </a:avLst>
          </a:prstGeom>
          <a:noFill/>
          <a:ln w="25399">
            <a:solidFill>
              <a:srgbClr val="5356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7270" y="2446516"/>
            <a:ext cx="237484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07270" y="2726472"/>
            <a:ext cx="21208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Margin Protection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07270" y="3189506"/>
            <a:ext cx="2120847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Returns are attributed to customer LTV and toxic SKUs are flagged.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09585" y="5445125"/>
            <a:ext cx="32916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 source systems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29877" y="5445125"/>
            <a:ext cx="28346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Exasol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13 tables · 5 views · 1 mat. view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21674" y="5445125"/>
            <a:ext cx="173727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FastAPI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19 endpoints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16140" y="5445125"/>
            <a:ext cx="19659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Next.js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6 operator views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9585" y="6067425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Sub-second queries at billion-row scale · LLM enrichment in-database · Zero cold pipelines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894933" y="5441553"/>
            <a:ext cx="12700" cy="428625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27" name="Shape 25"/>
          <p:cNvSpPr/>
          <p:nvPr/>
        </p:nvSpPr>
        <p:spPr>
          <a:xfrm>
            <a:off x="7186730" y="5441553"/>
            <a:ext cx="12700" cy="428625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81196" y="5441553"/>
            <a:ext cx="12700" cy="428625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29" name="Text 27"/>
          <p:cNvSpPr/>
          <p:nvPr/>
        </p:nvSpPr>
        <p:spPr>
          <a:xfrm>
            <a:off x="11806339" y="6451898"/>
            <a:ext cx="38535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IDENTITY &amp; FRAUD GUARD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2576"/>
            <a:ext cx="1097252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Promo abuse blocked in real time.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80885"/>
            <a:ext cx="1097252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burner email alias triggers an instant block, logs a fraud event to Exasol, and surfaces in the live alert feed within 15 seconds.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497931"/>
            <a:ext cx="4267093" cy="2438003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730103"/>
            <a:ext cx="40384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LIVE ALERT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8179" y="3141186"/>
            <a:ext cx="380990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FR-001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38179" y="3704253"/>
            <a:ext cx="380990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Reason: email alias matches existing customer GID-1001.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371" y="2726531"/>
          <a:ext cx="6400739" cy="914400"/>
        </p:xfrm>
        <a:graphic>
          <a:graphicData uri="http://schemas.openxmlformats.org/drawingml/2006/table">
            <a:tbl>
              <a:tblPr/>
              <a:tblGrid>
                <a:gridCol w="1920132"/>
                <a:gridCol w="4480607"/>
              </a:tblGrid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INPUT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aarav.sharma+spam@gmail.com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PROMO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$15OFF (₹500)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MATCH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address_similarity → 100.0%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ACTION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BLOCKED · fraud_event inserted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802370" y="6451898"/>
            <a:ext cx="38932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AUTONOMOUS CUSTOMER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2576"/>
            <a:ext cx="1097252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LLM classifies every ticket in 2 seconds.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80885"/>
            <a:ext cx="1097252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Groq’s gpt-oss-20b returns strict JSON validated against Pydantic, then writes sentiment, urgency, churn risk, category, and a retention offer back to Exasol.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497931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800152"/>
            <a:ext cx="2400240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952492"/>
            <a:ext cx="240024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Ticket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415526"/>
            <a:ext cx="240024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Damaged packaging · eggs arrived crushed · refund request ₹60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67013" y="2497931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67013" y="2800152"/>
            <a:ext cx="2400240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1" name="Text 9"/>
          <p:cNvSpPr/>
          <p:nvPr/>
        </p:nvSpPr>
        <p:spPr>
          <a:xfrm>
            <a:off x="3467013" y="2952492"/>
            <a:ext cx="240024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Strict JSON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67013" y="3415526"/>
            <a:ext cx="240024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Validated against Pydantic.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24442" y="2497931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24442" y="2800152"/>
            <a:ext cx="2400240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2952492"/>
            <a:ext cx="240024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Risk read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24442" y="3415526"/>
            <a:ext cx="240024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NEGATIVE · HIGH urgency · 70% churn risk · product_quality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81870" y="2497931"/>
            <a:ext cx="8958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81870" y="2800152"/>
            <a:ext cx="2400240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9" name="Text 17"/>
          <p:cNvSpPr/>
          <p:nvPr/>
        </p:nvSpPr>
        <p:spPr>
          <a:xfrm>
            <a:off x="9181870" y="2952492"/>
            <a:ext cx="240024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Offer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81870" y="3415526"/>
            <a:ext cx="240024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₹1,200 store credit + apology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9585" y="4478933"/>
            <a:ext cx="5410065" cy="1803003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22" name="Text 20"/>
          <p:cNvSpPr/>
          <p:nvPr/>
        </p:nvSpPr>
        <p:spPr>
          <a:xfrm>
            <a:off x="761981" y="4634905"/>
            <a:ext cx="52576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1981" y="5043130"/>
            <a:ext cx="510527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Sneha Desai · GID-1008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1981" y="5506164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LTV ₹19,350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172046" y="4478933"/>
            <a:ext cx="5410065" cy="1803003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2" y="4634905"/>
            <a:ext cx="52576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Telemetry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24442" y="5043130"/>
            <a:ext cx="510527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57 tickets analyzed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24442" y="5506164"/>
            <a:ext cx="510527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88% average churn risk in top decile · ₹680 retained today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809712" y="6451898"/>
            <a:ext cx="3819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PREDICTIVE INVENTORY RADAR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2576"/>
            <a:ext cx="1097252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Five SKUs predicted to stock out in six hours.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909485"/>
            <a:ext cx="694920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Live across four Bengaluru dark stores; refreshed every 60 seconds.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58791" y="1678186"/>
            <a:ext cx="4023319" cy="164713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6" name="Text 4"/>
          <p:cNvSpPr/>
          <p:nvPr/>
        </p:nvSpPr>
        <p:spPr>
          <a:xfrm>
            <a:off x="7736587" y="1862653"/>
            <a:ext cx="3667728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One click → reorder approved.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36587" y="2837180"/>
            <a:ext cx="384552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 spreadsheet. No Slack thread.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518991"/>
          <a:ext cx="10972526" cy="914400"/>
        </p:xfrm>
        <a:graphic>
          <a:graphicData uri="http://schemas.openxmlformats.org/drawingml/2006/table">
            <a:tbl>
              <a:tblPr/>
              <a:tblGrid>
                <a:gridCol w="3072232"/>
                <a:gridCol w="1974999"/>
                <a:gridCol w="1097233"/>
                <a:gridCol w="1316699"/>
                <a:gridCol w="1755533"/>
                <a:gridCol w="1755830"/>
              </a:tblGrid>
              <a:tr h="3474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SKU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STORE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STOCK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6H DEMAND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STATUS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REORDER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Amul Taaza Milk 1L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Koramangala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4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82" kern="1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CRITICAL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+158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Hass Avocado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Indiranagar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82" kern="1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CRITICAL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+118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Whole Wheat Bread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HSR Layout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12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82" kern="1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CRITICAL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+174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Free-Range Eggs (6)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Whitefield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82" kern="1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CRITICAL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+205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2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Bananas (1kg)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Koramangala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14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82" kern="1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CRITICAL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+136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805942" y="6451898"/>
            <a:ext cx="3857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649211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MARGIN PROTECTION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2576"/>
            <a:ext cx="649211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Returns abusers. Toxic SKUs. Real margin impact.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249805"/>
            <a:ext cx="649211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PulseCart ties every return back to customer LTV and SKU profitability.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000177"/>
            <a:ext cx="3169861" cy="2117328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3105348"/>
            <a:ext cx="29920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RETURNS ABUSER #1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7380" y="3516432"/>
            <a:ext cx="281426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Rohit Gupta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7380" y="4079498"/>
            <a:ext cx="281426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GID-1005 · 6 returns · ₹2,700+ margin impact · 28% return rate.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931841" y="3000177"/>
            <a:ext cx="3169861" cy="2117328"/>
          </a:xfrm>
          <a:prstGeom prst="rect">
            <a:avLst/>
          </a:prstGeom>
          <a:solidFill>
            <a:srgbClr val="D13A2C"/>
          </a:solidFill>
          <a:ln/>
        </p:spPr>
      </p:sp>
      <p:sp>
        <p:nvSpPr>
          <p:cNvPr id="10" name="Text 8"/>
          <p:cNvSpPr/>
          <p:nvPr/>
        </p:nvSpPr>
        <p:spPr>
          <a:xfrm>
            <a:off x="4109637" y="3105348"/>
            <a:ext cx="29920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TOXIC SKU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09637" y="3516432"/>
            <a:ext cx="281426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Hass Avocado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09637" y="4079498"/>
            <a:ext cx="281426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AV-006 · 4 returns ·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₹−48.50 net margin · flagged TOXIC.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585" y="5298003"/>
            <a:ext cx="649211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Total margin lost: ₹1,845.20 · Erosion: 14.8%</a:t>
            </a:r>
            <a:endParaRPr lang="en-US" sz="1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99" y="609600"/>
            <a:ext cx="4328111" cy="32183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53999" y="3917255"/>
            <a:ext cx="43281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Margin erosion by category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816261" y="6451898"/>
            <a:ext cx="37543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LIVE ROI TELEMETRY · POLLED EVERY 30 SECONDS FROM EXASOL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012428"/>
            <a:ext cx="10972526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9600" b="1" spc="-192" kern="100" dirty="0">
                <a:solidFill>
                  <a:srgbClr val="C8F03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₹1,842.50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09585" y="2329905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revenue saved today.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585" y="2989957"/>
            <a:ext cx="3572877" cy="1220788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3196729"/>
            <a:ext cx="33696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FRAUD BLOCKED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2780" y="3642419"/>
            <a:ext cx="3166487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100" dirty="0">
                <a:solidFill>
                  <a:srgbClr val="D3D8D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₹740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309359" y="2989957"/>
            <a:ext cx="3572976" cy="1220788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9" name="Text 7"/>
          <p:cNvSpPr/>
          <p:nvPr/>
        </p:nvSpPr>
        <p:spPr>
          <a:xfrm>
            <a:off x="4512554" y="3196729"/>
            <a:ext cx="33697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CHURN RETAINED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12554" y="3642419"/>
            <a:ext cx="316658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100" dirty="0">
                <a:solidFill>
                  <a:srgbClr val="D3D8D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₹680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009233" y="2989957"/>
            <a:ext cx="3572877" cy="1220788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2" name="Text 10"/>
          <p:cNvSpPr/>
          <p:nvPr/>
        </p:nvSpPr>
        <p:spPr>
          <a:xfrm>
            <a:off x="8212428" y="3196729"/>
            <a:ext cx="33696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STOCKOUTS AVOIDED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12428" y="3642419"/>
            <a:ext cx="3166487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100" dirty="0">
                <a:solidFill>
                  <a:srgbClr val="D3D8D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₹422.50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9585" y="444204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+18.4% versus the 7-day average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7-day cumulative: ₹12,980.00 (+9.2%)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06240" y="6451898"/>
            <a:ext cx="38545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2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UNDER THE OPERATOR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2576"/>
            <a:ext cx="1097252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The stack is deep where operators feel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678186"/>
            <a:ext cx="5333867" cy="2986881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1855986"/>
            <a:ext cx="4978275" cy="2631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Sub-second execution: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Exasol’s in-memory columnar engine scans only the columns each query needs; materialized views refresh in seconds.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Views powering every module: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VW_CUSTOMER_GOLDEN, VW_STOCKOUT_WARNINGS, VW_CHURN_RISK, VW_RETURNS_ABUSERS, MV_CUSTOMER_360.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48244" y="1678186"/>
            <a:ext cx="5333867" cy="2986881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7" name="Text 5"/>
          <p:cNvSpPr/>
          <p:nvPr/>
        </p:nvSpPr>
        <p:spPr>
          <a:xfrm>
            <a:off x="6426039" y="1855986"/>
            <a:ext cx="4978275" cy="2318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LLM fallback chain: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openai/gpt-oss-20b on Groq → qwen/qwen3.8-27b → heuristic keyword classifier.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3D8D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Open source by design: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MIT License, no proprietary dependencies, Exasol Personal Edition compatible, deterministic synthetic seeder.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4862314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13 tables · 5 views · 1 materialized 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05942" y="6451898"/>
            <a:ext cx="3857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820420"/>
            <a:ext cx="92644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THE CLOSE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182291"/>
            <a:ext cx="865483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b="1" spc="-108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Catch what quick-commerce loses to silence.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5156" y="4098925"/>
            <a:ext cx="86548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PulseCart recovers the 8–12% of revenue that quietly leaks every quarter across fraud, stockouts, churn, and returns.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5156" y="4962049"/>
            <a:ext cx="926441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One unified customer record. One operator dashboard. Built on Exasol.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5156" y="5399385"/>
            <a:ext cx="2783314" cy="88007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7" name="Text 5"/>
          <p:cNvSpPr/>
          <p:nvPr/>
        </p:nvSpPr>
        <p:spPr>
          <a:xfrm>
            <a:off x="942951" y="5529084"/>
            <a:ext cx="260551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Live demo 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00866" y="5399385"/>
            <a:ext cx="2783314" cy="88007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9" name="Text 7"/>
          <p:cNvSpPr/>
          <p:nvPr/>
        </p:nvSpPr>
        <p:spPr>
          <a:xfrm>
            <a:off x="3878662" y="5529084"/>
            <a:ext cx="260551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GitHub repository 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36576" y="5399385"/>
            <a:ext cx="2783413" cy="880070"/>
          </a:xfrm>
          <a:prstGeom prst="rect">
            <a:avLst/>
          </a:prstGeom>
          <a:solidFill>
            <a:srgbClr val="2A2F36"/>
          </a:solidFill>
          <a:ln/>
        </p:spPr>
      </p:sp>
      <p:sp>
        <p:nvSpPr>
          <p:cNvPr id="11" name="Text 9"/>
          <p:cNvSpPr/>
          <p:nvPr/>
        </p:nvSpPr>
        <p:spPr>
          <a:xfrm>
            <a:off x="6814372" y="5529084"/>
            <a:ext cx="24278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3-min video walkthrough →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5156" y="6476702"/>
            <a:ext cx="865483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Track 02 · Customers, Channels &amp; Demand · Hackathon submission · 2026 · MIT License · Open source · Built in Bengaluru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2026-10-23T18:50:12Z</dcterms:created>
  <dcterms:modified xsi:type="dcterms:W3CDTF">2026-10-23T18:50:12Z</dcterms:modified>
</cp:coreProperties>
</file>