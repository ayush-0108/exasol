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1/12</a:t>
            </a:r>
          </a:p>
        </p:txBody>
      </p:sp>
      <p:sp>
        <p:nvSpPr>
          <p:cNvPr id="4" name="Oval 3"/>
          <p:cNvSpPr/>
          <p:nvPr/>
        </p:nvSpPr>
        <p:spPr>
          <a:xfrm>
            <a:off x="8549640" y="1005840"/>
            <a:ext cx="2331720" cy="2331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1965960"/>
            <a:ext cx="1691640" cy="1691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83879" y="3063240"/>
            <a:ext cx="1143000" cy="1143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732520" y="2057400"/>
            <a:ext cx="1280160" cy="685800"/>
          </a:xfrm>
          <a:prstGeom prst="line">
            <a:avLst/>
          </a:prstGeom>
          <a:ln w="16510">
            <a:solidFill>
              <a:srgbClr val="1D5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823960" y="2834640"/>
            <a:ext cx="1371600" cy="914399"/>
          </a:xfrm>
          <a:prstGeom prst="line">
            <a:avLst/>
          </a:prstGeom>
          <a:ln w="16510">
            <a:solidFill>
              <a:srgbClr val="1D5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686800" y="20116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12680" y="27432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23960" y="3749039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283464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66928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B981"/>
                </a:solidFill>
                <a:latin typeface="JetBrains Mono"/>
              </a:defRPr>
            </a:pPr>
            <a:r>
              <a:t>TRACK 02 · CUSTOMERS, CHANNELS &amp;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627632"/>
            <a:ext cx="6858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5500" b="1" i="0">
                <a:solidFill>
                  <a:srgbClr val="F4F4F5"/>
                </a:solidFill>
                <a:latin typeface="Inter"/>
              </a:defRPr>
            </a:pPr>
            <a:r>
              <a:t>PulseCart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70632"/>
            <a:ext cx="7132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200" b="1" i="0">
                <a:solidFill>
                  <a:srgbClr val="10B981"/>
                </a:solidFill>
                <a:latin typeface="Inter"/>
              </a:defRPr>
            </a:pPr>
            <a:r>
              <a:t>Quick-commerce operator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364992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500" b="0" i="0">
                <a:solidFill>
                  <a:srgbClr val="D4D4D8"/>
                </a:solidFill>
                <a:latin typeface="Inter"/>
              </a:defRPr>
            </a:pPr>
            <a:r>
              <a:t>One customer record. Four revenue leaks brought into 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5074920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A1A1AA"/>
                </a:solidFill>
                <a:latin typeface="JetBrains Mono"/>
              </a:defRPr>
            </a:pPr>
            <a:r>
              <a:t>Built on Exasol</a:t>
            </a:r>
          </a:p>
          <a:p>
            <a:pPr algn="l">
              <a:spcAft>
                <a:spcPts val="200"/>
              </a:spcAft>
              <a:defRPr sz="1100" b="0" i="0">
                <a:solidFill>
                  <a:srgbClr val="A1A1AA"/>
                </a:solidFill>
                <a:latin typeface="JetBrains Mono"/>
              </a:defRPr>
            </a:pPr>
            <a:r>
              <a:t>Powered by Groq LLMs</a:t>
            </a:r>
          </a:p>
          <a:p>
            <a:pPr algn="l">
              <a:spcAft>
                <a:spcPts val="200"/>
              </a:spcAft>
              <a:defRPr sz="1100" b="0" i="0">
                <a:solidFill>
                  <a:srgbClr val="A1A1AA"/>
                </a:solidFill>
                <a:latin typeface="JetBrains Mono"/>
              </a:defRPr>
            </a:pPr>
            <a:r>
              <a:t>MIT License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617220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A1A1AA"/>
                </a:solidFill>
                <a:latin typeface="JetBrains Mono"/>
              </a:defRPr>
            </a:pPr>
            <a:r>
              <a:t>DEMO: 97 SECONDS · 4 DARK STORES ·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B981"/>
                </a:solidFill>
                <a:latin typeface="JetBrains Mono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87552"/>
            <a:ext cx="50749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900" b="1" i="0">
                <a:solidFill>
                  <a:srgbClr val="F4F4F5"/>
                </a:solidFill>
                <a:latin typeface="Inter"/>
              </a:defRPr>
            </a:pPr>
            <a:r>
              <a:t>Quick-commerce loses 8–12% of revenue to four silent killers.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61488"/>
            <a:ext cx="47091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400" b="0" i="0">
                <a:solidFill>
                  <a:srgbClr val="D4D4D8"/>
                </a:solidFill>
                <a:latin typeface="Inter"/>
              </a:defRPr>
            </a:pPr>
            <a:r>
              <a:t>Operators run a fragmented stack — order app, loyalty, support inbox, returns portal — each capturing a partial view of the same customer. No system connects them. Four blind spots quietly erode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166360"/>
            <a:ext cx="4389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10B981"/>
                </a:solidFill>
                <a:latin typeface="Inter"/>
              </a:defRPr>
            </a:pPr>
            <a:r>
              <a:t>One customer. Four disconnected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658368"/>
            <a:ext cx="5623560" cy="1115568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97880" y="658368"/>
            <a:ext cx="50292" cy="11155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859536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71717A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81381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F4F4F5"/>
                </a:solidFill>
                <a:latin typeface="Inter"/>
              </a:defRPr>
            </a:pPr>
            <a:r>
              <a:t>Identity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179576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Promo abuse hides across duplicate identities.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011680"/>
            <a:ext cx="5623560" cy="1115568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2011680"/>
            <a:ext cx="50292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212848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71717A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167128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F4F4F5"/>
                </a:solidFill>
                <a:latin typeface="Inter"/>
              </a:defRPr>
            </a:pPr>
            <a:r>
              <a:t>Silent stockouts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532888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Demand shifts faster than replenishment.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3364991"/>
            <a:ext cx="5623560" cy="1115568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3364991"/>
            <a:ext cx="50292" cy="111556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3566160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71717A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520439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F4F4F5"/>
                </a:solidFill>
                <a:latin typeface="Inter"/>
              </a:defRPr>
            </a:pPr>
            <a:r>
              <a:t>Unused churn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886200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Angry support tickets never trigger retention.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4718303"/>
            <a:ext cx="5623560" cy="1115568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4718303"/>
            <a:ext cx="50292" cy="11155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4919471"/>
            <a:ext cx="438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71717A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873751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F4F4F5"/>
                </a:solidFill>
                <a:latin typeface="Inter"/>
              </a:defRPr>
            </a:pPr>
            <a:r>
              <a:t>Unattributed returns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239512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Returns erase margin without clear ownership.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6181344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700" b="0" i="0">
                <a:solidFill>
                  <a:srgbClr val="71717A"/>
                </a:solidFill>
                <a:latin typeface="JetBrains Mono"/>
              </a:defRPr>
            </a:pPr>
            <a:r>
              <a:t>Source: industry benchmarks, quick-commerce operator interviews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3200" b="1" i="0">
                <a:solidFill>
                  <a:srgbClr val="F4F4F5"/>
                </a:solidFill>
                <a:latin typeface="Inter"/>
              </a:defRPr>
            </a:pPr>
            <a:r>
              <a:t>The root cause is not four problems.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3300" b="1" i="0">
                <a:solidFill>
                  <a:srgbClr val="F4F4F5"/>
                </a:solidFill>
                <a:latin typeface="Inter"/>
              </a:defRPr>
            </a:pPr>
            <a:r>
              <a:t>It is one: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652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3100" b="1" i="0">
                <a:solidFill>
                  <a:srgbClr val="10B981"/>
                </a:solidFill>
                <a:latin typeface="Inter"/>
              </a:defRPr>
            </a:pPr>
            <a:r>
              <a:t>the absence of a unified customer record.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20640" y="3749039"/>
            <a:ext cx="1947672" cy="0"/>
          </a:xfrm>
          <a:prstGeom prst="line">
            <a:avLst/>
          </a:prstGeom>
          <a:ln w="1524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960" y="4160520"/>
            <a:ext cx="8275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500" b="0" i="0">
                <a:solidFill>
                  <a:srgbClr val="A1A1AA"/>
                </a:solidFill>
                <a:latin typeface="Inter"/>
              </a:defRPr>
            </a:pPr>
            <a:r>
              <a:t>Every silo sees a fragment. None share a golden ID. The high-LTV customer who files an angry ticket may be the same person filing six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5577840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900" b="1" i="0">
                <a:solidFill>
                  <a:srgbClr val="A1A1AA"/>
                </a:solidFill>
                <a:latin typeface="JetBrains Mono"/>
              </a:defRPr>
            </a:pPr>
            <a:r>
              <a:t>ONE GOLDEN ID  →  CROSS-CUTTING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B981"/>
                </a:solidFill>
                <a:latin typeface="JetBrains Mono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900" b="1" i="0">
                <a:solidFill>
                  <a:srgbClr val="F4F4F5"/>
                </a:solidFill>
                <a:latin typeface="Inter"/>
              </a:defRPr>
            </a:pPr>
            <a:r>
              <a:t>One dashboard. Four modules. Zero leakage.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96926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300" b="0" i="0">
                <a:solidFill>
                  <a:srgbClr val="D4D4D8"/>
                </a:solidFill>
                <a:latin typeface="Inter"/>
              </a:defRPr>
            </a:pPr>
            <a:r>
              <a:t>PulseCart unifies identity, inventory, churn, and returns intelligence into one operator view, built on Exasol.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2697480" cy="2514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743200"/>
            <a:ext cx="26974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06324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F4F4F5"/>
                </a:solidFill>
                <a:latin typeface="Inter"/>
              </a:defRPr>
            </a:pPr>
            <a:r>
              <a:t>01 · Identity &amp; fraud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886200"/>
            <a:ext cx="23134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A1A1AA"/>
                </a:solidFill>
                <a:latin typeface="Inter"/>
              </a:defRPr>
            </a:pPr>
            <a:r>
              <a:t>Fuzzy-matched golden IDs block promo abuse.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82803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8B5CF6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743200"/>
            <a:ext cx="2331720" cy="2514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2743200"/>
            <a:ext cx="2331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063240"/>
            <a:ext cx="1965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F4F4F5"/>
                </a:solidFill>
                <a:latin typeface="Inter"/>
              </a:defRPr>
            </a:pPr>
            <a:r>
              <a:t>02 · Predictive inventory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886200"/>
            <a:ext cx="1947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A1A1AA"/>
                </a:solidFill>
                <a:latin typeface="Inter"/>
              </a:defRPr>
            </a:pPr>
            <a:r>
              <a:t>6-hour stockout predictions with 1-click reorder.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2803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59E0B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61304" y="2743200"/>
            <a:ext cx="2423160" cy="2514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61304" y="2743200"/>
            <a:ext cx="24231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306324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F4F4F5"/>
                </a:solidFill>
                <a:latin typeface="Inter"/>
              </a:defRPr>
            </a:pPr>
            <a:r>
              <a:t>03 · Autonomous customer 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3886200"/>
            <a:ext cx="2039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A1A1AA"/>
                </a:solidFill>
                <a:latin typeface="Inter"/>
              </a:defRPr>
            </a:pPr>
            <a:r>
              <a:t>Groq classifies tickets; risk + offer surfaced.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482803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43F5E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03336" y="2743200"/>
            <a:ext cx="2057400" cy="2514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03336" y="2743200"/>
            <a:ext cx="20574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04504" y="3063240"/>
            <a:ext cx="1691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F4F4F5"/>
                </a:solidFill>
                <a:latin typeface="Inter"/>
              </a:defRPr>
            </a:pPr>
            <a:r>
              <a:t>04 · Margin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4" y="3886200"/>
            <a:ext cx="16733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A1A1AA"/>
                </a:solidFill>
                <a:latin typeface="Inter"/>
              </a:defRPr>
            </a:pPr>
            <a:r>
              <a:t>Returns linked to customer and SKU profitability.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4504" y="482803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97316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71717A"/>
                </a:solidFill>
                <a:latin typeface="JetBrains Mono"/>
              </a:defRPr>
            </a:pPr>
            <a:r>
              <a:t>IDENTITY  /  INVENTORY  /  RETENTION  / 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B981"/>
                </a:solidFill>
                <a:latin typeface="JetBrains Mono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600" b="1" i="0">
                <a:solidFill>
                  <a:srgbClr val="F4F4F5"/>
                </a:solidFill>
                <a:latin typeface="Inter"/>
              </a:defRPr>
            </a:pPr>
            <a:r>
              <a:t>One path from fragmented signals to operator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50592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500" b="1" i="0">
                <a:solidFill>
                  <a:srgbClr val="F4F4F5"/>
                </a:solidFill>
                <a:latin typeface="Inter"/>
              </a:defRPr>
            </a:pPr>
            <a:r>
              <a:t>5 source systems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944368"/>
            <a:ext cx="1874520" cy="0"/>
          </a:xfrm>
          <a:prstGeom prst="line">
            <a:avLst/>
          </a:prstGeom>
          <a:ln w="1016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67512" y="3154680"/>
            <a:ext cx="20939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order_app</a:t>
            </a:r>
          </a:p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loyalty · support</a:t>
            </a:r>
          </a:p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returns · web_guest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3136392"/>
            <a:ext cx="32004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3182112" y="3008376"/>
            <a:ext cx="201168" cy="256032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14884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148840"/>
            <a:ext cx="2423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450592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500" b="1" i="0">
                <a:solidFill>
                  <a:srgbClr val="10B981"/>
                </a:solidFill>
                <a:latin typeface="Inter"/>
              </a:defRPr>
            </a:pPr>
            <a:r>
              <a:t>Exasol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03320" y="2944368"/>
            <a:ext cx="1874520" cy="0"/>
          </a:xfrm>
          <a:prstGeom prst="line">
            <a:avLst/>
          </a:prstGeom>
          <a:ln w="1016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93592" y="3154680"/>
            <a:ext cx="20939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13 tables · 5 views</a:t>
            </a:r>
          </a:p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1 materialized view</a:t>
            </a:r>
          </a:p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in-memory columnar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25312" y="3136392"/>
            <a:ext cx="32004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6108192" y="3008376"/>
            <a:ext cx="201168" cy="256032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14884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450592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500" b="1" i="0">
                <a:solidFill>
                  <a:srgbClr val="F4F4F5"/>
                </a:solidFill>
                <a:latin typeface="Inter"/>
              </a:defRPr>
            </a:pPr>
            <a:r>
              <a:t>FastAPI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29400" y="2944368"/>
            <a:ext cx="1874519" cy="0"/>
          </a:xfrm>
          <a:prstGeom prst="line">
            <a:avLst/>
          </a:prstGeom>
          <a:ln w="1016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19672" y="3154680"/>
            <a:ext cx="20939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19 REST endpoints</a:t>
            </a:r>
          </a:p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Pydantic validation</a:t>
            </a:r>
          </a:p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pyexasol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51392" y="3136392"/>
            <a:ext cx="320040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9034272" y="3008376"/>
            <a:ext cx="201168" cy="256032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81160" y="2148840"/>
            <a:ext cx="2423160" cy="2011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450592"/>
            <a:ext cx="2057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500" b="1" i="0">
                <a:solidFill>
                  <a:srgbClr val="F4F4F5"/>
                </a:solidFill>
                <a:latin typeface="Inter"/>
              </a:defRPr>
            </a:pPr>
            <a:r>
              <a:t>Next.js dashboard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80" y="2944368"/>
            <a:ext cx="1874520" cy="0"/>
          </a:xfrm>
          <a:prstGeom prst="line">
            <a:avLst/>
          </a:prstGeom>
          <a:ln w="1016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45752" y="3154680"/>
            <a:ext cx="209397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6 operator views</a:t>
            </a:r>
          </a:p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15–60s polling</a:t>
            </a:r>
          </a:p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alerts +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920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1" i="0">
                <a:solidFill>
                  <a:srgbClr val="10B981"/>
                </a:solidFill>
                <a:latin typeface="JetBrains Mono"/>
              </a:defRPr>
            </a:pPr>
            <a:r>
              <a:t>SUB-SECOND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3036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100" b="0" i="0">
                <a:solidFill>
                  <a:srgbClr val="A1A1AA"/>
                </a:solidFill>
                <a:latin typeface="Inter"/>
              </a:defRPr>
            </a:pPr>
            <a:r>
              <a:t>Analytical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8920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1" i="0">
                <a:solidFill>
                  <a:srgbClr val="10B981"/>
                </a:solidFill>
                <a:latin typeface="JetBrains Mono"/>
              </a:defRPr>
            </a:pPr>
            <a:r>
              <a:t>IN-DATABASE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523036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100" b="0" i="0">
                <a:solidFill>
                  <a:srgbClr val="A1A1AA"/>
                </a:solidFill>
                <a:latin typeface="Inter"/>
              </a:defRPr>
            </a:pPr>
            <a:r>
              <a:t>LLM-enriched signals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8920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1" i="0">
                <a:solidFill>
                  <a:srgbClr val="10B981"/>
                </a:solidFill>
                <a:latin typeface="JetBrains Mono"/>
              </a:defRPr>
            </a:pPr>
            <a:r>
              <a:t>NO COLD PIPELINES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523036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100" b="0" i="0">
                <a:solidFill>
                  <a:srgbClr val="A1A1AA"/>
                </a:solidFill>
                <a:latin typeface="Inter"/>
              </a:defRPr>
            </a:pPr>
            <a:r>
              <a:t>Fast operator 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989320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13 tables · 5 production views · 1 materialized view · 19 REST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8B5CF6"/>
                </a:solidFill>
                <a:latin typeface="JetBrains Mono"/>
              </a:defRPr>
            </a:pPr>
            <a:r>
              <a:t>MODULE 01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074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800" b="1" i="0">
                <a:solidFill>
                  <a:srgbClr val="F4F4F5"/>
                </a:solidFill>
                <a:latin typeface="Inter"/>
              </a:defRPr>
            </a:pPr>
            <a:r>
              <a:t>Promo abuse blocked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057400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300" b="0" i="0">
                <a:solidFill>
                  <a:srgbClr val="D4D4D8"/>
                </a:solidFill>
                <a:latin typeface="Inter"/>
              </a:defRPr>
            </a:pPr>
            <a:r>
              <a:t>A burner email alias matches an existing customer. PulseCart blocks the promo, logs the event to Exasol, and surfaces the alert to operators.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3429000"/>
            <a:ext cx="4754880" cy="150876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F4F4F5"/>
                </a:solidFill>
                <a:latin typeface="JetBrains Mono"/>
              </a:defRPr>
            </a:pPr>
            <a:r>
              <a:t>INPUT  aarav.sharma+spam@gmail.com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PROMO  $15OFF (₹500)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8B5CF6"/>
                </a:solidFill>
                <a:latin typeface="JetBrains Mono"/>
              </a:defRPr>
            </a:pPr>
            <a:r>
              <a:t>MATCH  address_similarity → 100.0%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4F4F5"/>
                </a:solidFill>
                <a:latin typeface="JetBrains Mono"/>
              </a:defRPr>
            </a:pPr>
            <a:r>
              <a:t>ACTION  BLOCKED · fraud_event inserted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777240"/>
            <a:ext cx="5532120" cy="5120640"/>
          </a:xfrm>
          <a:prstGeom prst="roundRect">
            <a:avLst>
              <a:gd name="adj" fmla="val 8000"/>
            </a:avLst>
          </a:prstGeom>
          <a:solidFill>
            <a:srgbClr val="2A171B"/>
          </a:solidFill>
          <a:ln w="10160">
            <a:solidFill>
              <a:srgbClr val="5A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097280"/>
            <a:ext cx="1600200" cy="256032"/>
          </a:xfrm>
          <a:prstGeom prst="roundRect">
            <a:avLst>
              <a:gd name="adj" fmla="val 8000"/>
            </a:avLst>
          </a:prstGeom>
          <a:solidFill>
            <a:srgbClr val="451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138428"/>
            <a:ext cx="145389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CA5A5"/>
                </a:solidFill>
                <a:latin typeface="JetBrains Mono"/>
              </a:defRPr>
            </a:pPr>
            <a:r>
              <a:t>FRAUD TESTER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6916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3200" b="1" i="0">
                <a:solidFill>
                  <a:srgbClr val="EF4444"/>
                </a:solidFill>
                <a:latin typeface="Inter"/>
              </a:defRPr>
            </a:pPr>
            <a:r>
              <a:t>⛔  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6032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3800" b="1" i="0">
                <a:solidFill>
                  <a:srgbClr val="F4F4F5"/>
                </a:solidFill>
                <a:latin typeface="JetBrains Mono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A1A1AA"/>
                </a:solidFill>
                <a:latin typeface="JetBrains Mono"/>
              </a:defRPr>
            </a:pPr>
            <a:r>
              <a:t>MATCH SIMILARITY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3474720"/>
            <a:ext cx="4800600" cy="0"/>
          </a:xfrm>
          <a:prstGeom prst="line">
            <a:avLst/>
          </a:prstGeom>
          <a:ln w="15240">
            <a:solidFill>
              <a:srgbClr val="5A25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0" y="37033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7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F4F4F5"/>
                </a:solidFill>
                <a:latin typeface="Inter"/>
              </a:defRPr>
            </a:pPr>
            <a:r>
              <a:t>Email alias matches existing customer GID-1001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48056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Method  address_similarity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257800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Fraud event ID: FR-001 · 2 min ago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7/12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85800"/>
            <a:ext cx="5257800" cy="54406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1508760" cy="256032"/>
          </a:xfrm>
          <a:prstGeom prst="roundRect">
            <a:avLst>
              <a:gd name="adj" fmla="val 8000"/>
            </a:avLst>
          </a:prstGeom>
          <a:solidFill>
            <a:srgbClr val="3B1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955547"/>
            <a:ext cx="13624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DA4AF"/>
                </a:solidFill>
                <a:latin typeface="JetBrains Mono"/>
              </a:defRPr>
            </a:pPr>
            <a:r>
              <a:t>SUPPORT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89888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800" b="1" i="0">
                <a:solidFill>
                  <a:srgbClr val="F4F4F5"/>
                </a:solidFill>
                <a:latin typeface="Inter"/>
              </a:defRPr>
            </a:pPr>
            <a:r>
              <a:t>Sneha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JetBrains Mono"/>
              </a:defRPr>
            </a:pPr>
            <a:r>
              <a:t>GID-1008  ·  LTV ₹19,350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F4F4F5"/>
                </a:solidFill>
                <a:latin typeface="Inter"/>
              </a:defRPr>
            </a:pPr>
            <a:r>
              <a:t>Damaged packaging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D4D4D8"/>
                </a:solidFill>
                <a:latin typeface="Inter"/>
              </a:defRPr>
            </a:pPr>
            <a:r>
              <a:t>“Eggs arrived crushed. The packaging was clearly damaged before shipping. Please refund ₹60 immediately.”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57600"/>
            <a:ext cx="4617720" cy="1920240"/>
          </a:xfrm>
          <a:prstGeom prst="roundRect">
            <a:avLst>
              <a:gd name="adj" fmla="val 8000"/>
            </a:avLst>
          </a:prstGeom>
          <a:solidFill>
            <a:srgbClr val="2B171F"/>
          </a:solidFill>
          <a:ln w="10160">
            <a:solidFill>
              <a:srgbClr val="512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8404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F43F5E"/>
                </a:solidFill>
                <a:latin typeface="JetBrains Mono"/>
              </a:defRPr>
            </a:pPr>
            <a:r>
              <a:t>LLM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160520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F4F4F5"/>
                </a:solidFill>
                <a:latin typeface="JetBrains Mono"/>
              </a:defRPr>
            </a:pPr>
            <a:r>
              <a:t>NEGATIVE  ·  HIGH urgency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5262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800" b="1" i="0">
                <a:solidFill>
                  <a:srgbClr val="F4F4F5"/>
                </a:solidFill>
                <a:latin typeface="Inter"/>
              </a:defRPr>
            </a:pPr>
            <a:r>
              <a:t>70% churn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56048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43F5E"/>
                </a:solidFill>
                <a:latin typeface="Inter"/>
              </a:defRPr>
            </a:pPr>
            <a:r>
              <a:t>₹1,200 store credit + apology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5257800"/>
            <a:ext cx="1078992" cy="246888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5303520"/>
            <a:ext cx="9326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052E22"/>
                </a:solidFill>
                <a:latin typeface="JetBrains Mono"/>
              </a:defRPr>
            </a:pPr>
            <a:r>
              <a:t>SEND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731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F43F5E"/>
                </a:solidFill>
                <a:latin typeface="JetBrains Mono"/>
              </a:defRPr>
            </a:pPr>
            <a:r>
              <a:t>MODULE 03 · LIVE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18872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F4F4F5"/>
                </a:solidFill>
                <a:latin typeface="Inter"/>
              </a:defRPr>
            </a:pPr>
            <a:r>
              <a:t>LLM classifies every ticket in 2 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514600"/>
            <a:ext cx="47548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200" b="0" i="0">
                <a:solidFill>
                  <a:srgbClr val="D4D4D8"/>
                </a:solidFill>
                <a:latin typeface="Inter"/>
              </a:defRPr>
            </a:pPr>
            <a:r>
              <a:t>Groq's gpt-oss-20b returns strict JSON validated against a Pydantic schema. Sentiment, urgency, churn risk, category and retention offer are written back to Exasol.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91072" y="4251960"/>
            <a:ext cx="1417320" cy="0"/>
          </a:xfrm>
          <a:prstGeom prst="line">
            <a:avLst/>
          </a:prstGeom>
          <a:ln w="1270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91072" y="448056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900" b="1" i="0">
                <a:solidFill>
                  <a:srgbClr val="F4F4F5"/>
                </a:solidFill>
                <a:latin typeface="JetBrains Mono"/>
              </a:defRPr>
            </a:pPr>
            <a:r>
              <a:t>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491947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Inter"/>
              </a:defRPr>
            </a:pPr>
            <a:r>
              <a:t>tickets analyzed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64424" y="4251960"/>
            <a:ext cx="1417320" cy="0"/>
          </a:xfrm>
          <a:prstGeom prst="line">
            <a:avLst/>
          </a:prstGeom>
          <a:ln w="1270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64424" y="448056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900" b="1" i="0">
                <a:solidFill>
                  <a:srgbClr val="F4F4F5"/>
                </a:solidFill>
                <a:latin typeface="JetBrains Mono"/>
              </a:defRPr>
            </a:pPr>
            <a: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4424" y="491947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Inter"/>
              </a:defRPr>
            </a:pPr>
            <a:r>
              <a:t>avg churn risk · top decile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37776" y="4251960"/>
            <a:ext cx="1417320" cy="0"/>
          </a:xfrm>
          <a:prstGeom prst="line">
            <a:avLst/>
          </a:prstGeom>
          <a:ln w="1270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37776" y="448056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900" b="1" i="0">
                <a:solidFill>
                  <a:srgbClr val="F4F4F5"/>
                </a:solidFill>
                <a:latin typeface="JetBrains Mono"/>
              </a:defRPr>
            </a:pPr>
            <a:r>
              <a:t>₹680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491947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Inter"/>
              </a:defRPr>
            </a:pPr>
            <a:r>
              <a:t>retained today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F59E0B"/>
                </a:solidFill>
                <a:latin typeface="JetBrains Mono"/>
              </a:defRPr>
            </a:pPr>
            <a:r>
              <a:t>MODULE 02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700" b="1" i="0">
                <a:solidFill>
                  <a:srgbClr val="F4F4F5"/>
                </a:solidFill>
                <a:latin typeface="Inter"/>
              </a:defRPr>
            </a:pPr>
            <a:r>
              <a:t>5 SKUs predicted to stock out in 6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71717A"/>
                </a:solidFill>
                <a:latin typeface="JetBrains Mono"/>
              </a:defRPr>
            </a:pPr>
            <a:r>
              <a:t>SKU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69164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71717A"/>
                </a:solidFill>
                <a:latin typeface="JetBrains Mono"/>
              </a:defRPr>
            </a:pPr>
            <a:r>
              <a:t>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6916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71717A"/>
                </a:solidFill>
                <a:latin typeface="JetBrains Mono"/>
              </a:defRPr>
            </a:pPr>
            <a:r>
              <a:t>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9164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71717A"/>
                </a:solidFill>
                <a:latin typeface="JetBrains Mono"/>
              </a:defRPr>
            </a:pPr>
            <a:r>
              <a:t>6H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69164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71717A"/>
                </a:solidFill>
                <a:latin typeface="JetBrains Mono"/>
              </a:defRPr>
            </a:pPr>
            <a:r>
              <a:t>SEVERITY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169164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71717A"/>
                </a:solidFill>
                <a:latin typeface="JetBrains Mono"/>
              </a:defRPr>
            </a:pPr>
            <a:r>
              <a:t>SUGGESTED REORDER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11680"/>
            <a:ext cx="10972800" cy="539496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16712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4F4F5"/>
                </a:solidFill>
                <a:latin typeface="JetBrains Mono"/>
              </a:defRPr>
            </a:pPr>
            <a:r>
              <a:t>Amul Taaza Milk 1L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7627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Koramangala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1031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EF4444"/>
                </a:solidFill>
                <a:latin typeface="JetBrains Mon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F4F4F5"/>
                </a:solidFill>
                <a:latin typeface="JetBrains Mono"/>
              </a:defRPr>
            </a:pPr>
            <a: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148840"/>
            <a:ext cx="1024128" cy="256032"/>
          </a:xfrm>
          <a:prstGeom prst="roundRect">
            <a:avLst>
              <a:gd name="adj" fmla="val 8000"/>
            </a:avLst>
          </a:prstGeom>
          <a:solidFill>
            <a:srgbClr val="451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218998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CA5A5"/>
                </a:solidFill>
                <a:latin typeface="JetBrains Mono"/>
              </a:defRPr>
            </a:pPr>
            <a:r>
              <a:t>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1762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59E0B"/>
                </a:solidFill>
                <a:latin typeface="JetBrains Mono"/>
              </a:defRPr>
            </a:pPr>
            <a:r>
              <a:t>+158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670048"/>
            <a:ext cx="10972800" cy="539496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282549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4F4F5"/>
                </a:solidFill>
                <a:latin typeface="JetBrains Mono"/>
              </a:defRPr>
            </a:pPr>
            <a:r>
              <a:t>Hass Avocado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8346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Indiranagar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7614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EF4444"/>
                </a:solidFill>
                <a:latin typeface="JetBrains Mono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3464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F4F4F5"/>
                </a:solidFill>
                <a:latin typeface="JetBrains Mono"/>
              </a:defRPr>
            </a:pPr>
            <a:r>
              <a:t>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2807208"/>
            <a:ext cx="1024128" cy="256032"/>
          </a:xfrm>
          <a:prstGeom prst="roundRect">
            <a:avLst>
              <a:gd name="adj" fmla="val 8000"/>
            </a:avLst>
          </a:prstGeom>
          <a:solidFill>
            <a:srgbClr val="451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2" y="2848356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CA5A5"/>
                </a:solidFill>
                <a:latin typeface="JetBrains Mono"/>
              </a:defRPr>
            </a:pPr>
            <a: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83464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59E0B"/>
                </a:solidFill>
                <a:latin typeface="JetBrains Mono"/>
              </a:defRPr>
            </a:pPr>
            <a:r>
              <a:t>+118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328416"/>
            <a:ext cx="10972800" cy="539496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3483864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4F4F5"/>
                </a:solidFill>
                <a:latin typeface="JetBrains Mono"/>
              </a:defRPr>
            </a:pPr>
            <a:r>
              <a:t>Whole Wheat Bread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49300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HSR 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41985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EF4444"/>
                </a:solidFill>
                <a:latin typeface="JetBrains Mono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49300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F4F4F5"/>
                </a:solidFill>
                <a:latin typeface="JetBrains Mono"/>
              </a:defRPr>
            </a:pPr>
            <a:r>
              <a:t>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465576"/>
            <a:ext cx="1024128" cy="256032"/>
          </a:xfrm>
          <a:prstGeom prst="roundRect">
            <a:avLst>
              <a:gd name="adj" fmla="val 8000"/>
            </a:avLst>
          </a:prstGeom>
          <a:solidFill>
            <a:srgbClr val="451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2" y="3506724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CA5A5"/>
                </a:solidFill>
                <a:latin typeface="JetBrains Mono"/>
              </a:defRPr>
            </a:pPr>
            <a:r>
              <a:t>CRITICAL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4930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59E0B"/>
                </a:solidFill>
                <a:latin typeface="JetBrains Mono"/>
              </a:defRPr>
            </a:pPr>
            <a:r>
              <a:t>+174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986784"/>
            <a:ext cx="10972800" cy="539496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14223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4F4F5"/>
                </a:solidFill>
                <a:latin typeface="JetBrains Mono"/>
              </a:defRPr>
            </a:pPr>
            <a:r>
              <a:t>Free-Range Eggs (6)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15137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Whitefield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40782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EF4444"/>
                </a:solidFill>
                <a:latin typeface="JetBrains Mono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15137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F4F4F5"/>
                </a:solidFill>
                <a:latin typeface="JetBrains Mono"/>
              </a:defRPr>
            </a:pPr>
            <a:r>
              <a:t>10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4123944"/>
            <a:ext cx="1024128" cy="256032"/>
          </a:xfrm>
          <a:prstGeom prst="roundRect">
            <a:avLst>
              <a:gd name="adj" fmla="val 8000"/>
            </a:avLst>
          </a:prstGeom>
          <a:solidFill>
            <a:srgbClr val="451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91272" y="4165092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CA5A5"/>
                </a:solidFill>
                <a:latin typeface="JetBrains Mono"/>
              </a:defRPr>
            </a:pPr>
            <a:r>
              <a:t>CRITICAL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1513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59E0B"/>
                </a:solidFill>
                <a:latin typeface="JetBrains Mono"/>
              </a:defRPr>
            </a:pPr>
            <a:r>
              <a:t>+205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4645152"/>
            <a:ext cx="10972800" cy="539496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480060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4F4F5"/>
                </a:solidFill>
                <a:latin typeface="JetBrains Mono"/>
              </a:defRPr>
            </a:pPr>
            <a:r>
              <a:t>Bananas (1kg)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480974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Koramangala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473659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EF4444"/>
                </a:solidFill>
                <a:latin typeface="JetBrains Mono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80974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0" i="0">
                <a:solidFill>
                  <a:srgbClr val="F4F4F5"/>
                </a:solidFill>
                <a:latin typeface="JetBrains Mono"/>
              </a:defRPr>
            </a:pPr>
            <a:r>
              <a:t>14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18120" y="4782312"/>
            <a:ext cx="1024128" cy="256032"/>
          </a:xfrm>
          <a:prstGeom prst="roundRect">
            <a:avLst>
              <a:gd name="adj" fmla="val 8000"/>
            </a:avLst>
          </a:prstGeom>
          <a:solidFill>
            <a:srgbClr val="451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91272" y="4823460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800" b="1" i="0">
                <a:solidFill>
                  <a:srgbClr val="FCA5A5"/>
                </a:solidFill>
                <a:latin typeface="JetBrains Mono"/>
              </a:defRPr>
            </a:pPr>
            <a:r>
              <a:t>CRITICAL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480974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100" b="1" i="0">
                <a:solidFill>
                  <a:srgbClr val="F59E0B"/>
                </a:solidFill>
                <a:latin typeface="JetBrains Mono"/>
              </a:defRPr>
            </a:pPr>
            <a:r>
              <a:t>+136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6235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10B981"/>
                </a:solidFill>
                <a:latin typeface="JetBrains Mono"/>
              </a:defRPr>
            </a:pPr>
            <a:r>
              <a:t>ONE CLICK  →  REORDER APPROVED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961888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No spreadsheet. No Slack thread.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989320"/>
            <a:ext cx="4160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4 Bengaluru dark stores · refreshed every 60s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F97316"/>
                </a:solidFill>
                <a:latin typeface="JetBrains Mono"/>
              </a:defRPr>
            </a:pPr>
            <a:r>
              <a:t>MODULE 04 ·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6583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600" b="1" i="0">
                <a:solidFill>
                  <a:srgbClr val="F4F4F5"/>
                </a:solidFill>
                <a:latin typeface="Inter"/>
              </a:defRPr>
            </a:pPr>
            <a:r>
              <a:t>Returns abusers. Toxic SKUs. Real margin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74519"/>
            <a:ext cx="5715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200" b="0" i="0">
                <a:solidFill>
                  <a:srgbClr val="D4D4D8"/>
                </a:solidFill>
                <a:latin typeface="Inter"/>
              </a:defRPr>
            </a:pPr>
            <a:r>
              <a:t>PulseCart ties returns to customer LTV and SKU profitability. Six returns cost margin; Hass Avocado turns net-negative after returns.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7889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F97316"/>
                </a:solidFill>
                <a:latin typeface="JetBrains Mono"/>
              </a:defRPr>
            </a:pPr>
            <a:r>
              <a:t>RETURNS ABUSER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F4F4F5"/>
                </a:solidFill>
                <a:latin typeface="Inter"/>
              </a:defRPr>
            </a:pPr>
            <a:r>
              <a:t>Rohit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673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JetBrains Mono"/>
              </a:defRPr>
            </a:pPr>
            <a:r>
              <a:t>GID-1005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33087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F4F4F5"/>
                </a:solidFill>
                <a:latin typeface="JetBrains Mono"/>
              </a:defRPr>
            </a:pPr>
            <a:r>
              <a:t>6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622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F97316"/>
                </a:solidFill>
                <a:latin typeface="JetBrains Mono"/>
              </a:defRPr>
            </a:pPr>
            <a:r>
              <a:t>₹2,700+ margin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788920"/>
            <a:ext cx="2788920" cy="20574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301752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F97316"/>
                </a:solidFill>
                <a:latin typeface="JetBrains Mono"/>
              </a:defRPr>
            </a:pPr>
            <a:r>
              <a:t>TOXIC SKU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383280"/>
            <a:ext cx="2331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600" b="1" i="0">
                <a:solidFill>
                  <a:srgbClr val="F4F4F5"/>
                </a:solidFill>
                <a:latin typeface="Inter"/>
              </a:defRPr>
            </a:pPr>
            <a:r>
              <a:t>Hass Avocado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7673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JetBrains Mono"/>
              </a:defRPr>
            </a:pPr>
            <a:r>
              <a:t>AV-006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4133087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F4F4F5"/>
                </a:solidFill>
                <a:latin typeface="JetBrains Mono"/>
              </a:defRPr>
            </a:pPr>
            <a:r>
              <a:t>4 returns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446227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F97316"/>
                </a:solidFill>
                <a:latin typeface="JetBrains Mono"/>
              </a:defRPr>
            </a:pPr>
            <a:r>
              <a:t>−₹48.50 net margin · TOXIC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777240"/>
            <a:ext cx="4754880" cy="516636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07899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500" b="1" i="0">
                <a:solidFill>
                  <a:srgbClr val="F4F4F5"/>
                </a:solidFill>
                <a:latin typeface="Inter"/>
              </a:defRPr>
            </a:pPr>
            <a:r>
              <a:t>Margin erosion by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178308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Produce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1783080"/>
            <a:ext cx="2148840" cy="219456"/>
          </a:xfrm>
          <a:prstGeom prst="roundRect">
            <a:avLst>
              <a:gd name="adj" fmla="val 8000"/>
            </a:avLst>
          </a:prstGeom>
          <a:solidFill>
            <a:srgbClr val="34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66760" y="1783080"/>
            <a:ext cx="2148840" cy="219456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0" y="176479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1000" b="1" i="0">
                <a:solidFill>
                  <a:srgbClr val="F4F4F5"/>
                </a:solidFill>
                <a:latin typeface="JetBrains Mono"/>
              </a:defRPr>
            </a:pPr>
            <a:r>
              <a:t>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247802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Dairy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2478024"/>
            <a:ext cx="2148840" cy="219456"/>
          </a:xfrm>
          <a:prstGeom prst="roundRect">
            <a:avLst>
              <a:gd name="adj" fmla="val 8000"/>
            </a:avLst>
          </a:prstGeom>
          <a:solidFill>
            <a:srgbClr val="34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60" y="2478024"/>
            <a:ext cx="1208722" cy="219456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0" y="2459736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1000" b="1" i="0">
                <a:solidFill>
                  <a:srgbClr val="F4F4F5"/>
                </a:solidFill>
                <a:latin typeface="JetBrains Mono"/>
              </a:defRPr>
            </a:pPr>
            <a:r>
              <a:t>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172968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Bakery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172968"/>
            <a:ext cx="2148840" cy="219456"/>
          </a:xfrm>
          <a:prstGeom prst="roundRect">
            <a:avLst>
              <a:gd name="adj" fmla="val 8000"/>
            </a:avLst>
          </a:prstGeom>
          <a:solidFill>
            <a:srgbClr val="34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66760" y="3172968"/>
            <a:ext cx="805815" cy="219456"/>
          </a:xfrm>
          <a:prstGeom prst="roundRect">
            <a:avLst>
              <a:gd name="adj" fmla="val 8000"/>
            </a:avLst>
          </a:prstGeom>
          <a:solidFill>
            <a:srgbClr val="D9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3154679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1000" b="1" i="0">
                <a:solidFill>
                  <a:srgbClr val="F4F4F5"/>
                </a:solidFill>
                <a:latin typeface="JetBrains Mono"/>
              </a:defRPr>
            </a:pPr>
            <a:r>
              <a:t>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386791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Beverages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3867912"/>
            <a:ext cx="2148840" cy="219456"/>
          </a:xfrm>
          <a:prstGeom prst="roundRect">
            <a:avLst>
              <a:gd name="adj" fmla="val 8000"/>
            </a:avLst>
          </a:prstGeom>
          <a:solidFill>
            <a:srgbClr val="34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66760" y="3867912"/>
            <a:ext cx="537210" cy="219456"/>
          </a:xfrm>
          <a:prstGeom prst="roundRect">
            <a:avLst>
              <a:gd name="adj" fmla="val 8000"/>
            </a:avLst>
          </a:prstGeom>
          <a:solidFill>
            <a:srgbClr val="9A4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0" y="384962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1000" b="1" i="0">
                <a:solidFill>
                  <a:srgbClr val="F4F4F5"/>
                </a:solidFill>
                <a:latin typeface="JetBrains Mono"/>
              </a:defRPr>
            </a:pPr>
            <a:r>
              <a:t>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8" y="456285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Frozen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4562856"/>
            <a:ext cx="2148840" cy="219456"/>
          </a:xfrm>
          <a:prstGeom prst="roundRect">
            <a:avLst>
              <a:gd name="adj" fmla="val 8000"/>
            </a:avLst>
          </a:prstGeom>
          <a:solidFill>
            <a:srgbClr val="34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66760" y="4562856"/>
            <a:ext cx="335756" cy="219456"/>
          </a:xfrm>
          <a:prstGeom prst="roundRect">
            <a:avLst>
              <a:gd name="adj" fmla="val 8000"/>
            </a:avLst>
          </a:prstGeom>
          <a:solidFill>
            <a:srgbClr val="9A4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454456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1000" b="1" i="0">
                <a:solidFill>
                  <a:srgbClr val="F4F4F5"/>
                </a:solidFill>
                <a:latin typeface="JetBrains Mono"/>
              </a:defRPr>
            </a:pPr>
            <a:r>
              <a:t>5%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50608" y="5440680"/>
            <a:ext cx="4050792" cy="0"/>
          </a:xfrm>
          <a:prstGeom prst="line">
            <a:avLst/>
          </a:prstGeom>
          <a:ln w="1270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50608" y="5532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700" b="1" i="0">
                <a:solidFill>
                  <a:srgbClr val="F97316"/>
                </a:solidFill>
                <a:latin typeface="JetBrains Mono"/>
              </a:defRPr>
            </a:pPr>
            <a:r>
              <a:t>₹1,845.20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557784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A1A1AA"/>
                </a:solidFill>
                <a:latin typeface="JetBrains Mono"/>
              </a:defRPr>
            </a:pPr>
            <a:r>
              <a:t>total margin lost · 14.8% erosion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10/12</a:t>
            </a:r>
          </a:p>
        </p:txBody>
      </p:sp>
      <p:sp>
        <p:nvSpPr>
          <p:cNvPr id="4" name="Oval 3"/>
          <p:cNvSpPr/>
          <p:nvPr/>
        </p:nvSpPr>
        <p:spPr>
          <a:xfrm>
            <a:off x="3749039" y="914400"/>
            <a:ext cx="4754880" cy="4754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5700" b="1" i="0">
                <a:solidFill>
                  <a:srgbClr val="10B981"/>
                </a:solidFill>
                <a:latin typeface="JetBrains Mono"/>
              </a:defRPr>
            </a:pPr>
            <a:r>
              <a:t>₹1,842.50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04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2200" b="1" i="0">
                <a:solidFill>
                  <a:srgbClr val="D4D4D8"/>
                </a:solidFill>
                <a:latin typeface="Inter"/>
              </a:defRPr>
            </a:pPr>
            <a:r>
              <a:t>Revenue saved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200" b="0" i="0">
                <a:solidFill>
                  <a:srgbClr val="A1A1AA"/>
                </a:solidFill>
                <a:latin typeface="JetBrains Mono"/>
              </a:defRPr>
            </a:pPr>
            <a:r>
              <a:t>+18.4% vs 7-day average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4160520"/>
            <a:ext cx="2240280" cy="0"/>
          </a:xfrm>
          <a:prstGeom prst="line">
            <a:avLst/>
          </a:prstGeom>
          <a:ln w="1270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28800" y="440740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700" b="1" i="0">
                <a:solidFill>
                  <a:srgbClr val="F4F4F5"/>
                </a:solidFill>
                <a:latin typeface="JetBrains Mono"/>
              </a:defRPr>
            </a:pPr>
            <a:r>
              <a:t>₹740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fraud blocked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4160520"/>
            <a:ext cx="2240280" cy="0"/>
          </a:xfrm>
          <a:prstGeom prst="line">
            <a:avLst/>
          </a:prstGeom>
          <a:ln w="1270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00600" y="440740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700" b="1" i="0">
                <a:solidFill>
                  <a:srgbClr val="F4F4F5"/>
                </a:solidFill>
                <a:latin typeface="JetBrains Mono"/>
              </a:defRPr>
            </a:pPr>
            <a:r>
              <a:t>₹680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84632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churn retained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0" y="4160520"/>
            <a:ext cx="2240280" cy="0"/>
          </a:xfrm>
          <a:prstGeom prst="line">
            <a:avLst/>
          </a:prstGeom>
          <a:ln w="1270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0" y="440740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700" b="1" i="0">
                <a:solidFill>
                  <a:srgbClr val="F4F4F5"/>
                </a:solidFill>
                <a:latin typeface="JetBrains Mono"/>
              </a:defRPr>
            </a:pPr>
            <a:r>
              <a:t>₹422.50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4632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stockouts avoided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8932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LIVE ROI TELEMETRY · POLLED EVERY 30S FROM EXASOL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98932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1000" b="1" i="0">
                <a:solidFill>
                  <a:srgbClr val="F4F4F5"/>
                </a:solidFill>
                <a:latin typeface="JetBrains Mono"/>
              </a:defRPr>
            </a:pPr>
            <a:r>
              <a:t>7-day cumulative: ₹12,980.00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406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2500" b="1" i="0">
                <a:solidFill>
                  <a:srgbClr val="F4F4F5"/>
                </a:solidFill>
                <a:latin typeface="Inter"/>
              </a:defRPr>
            </a:pPr>
            <a:r>
              <a:t>Engineered for sub-second analytical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200" b="0" i="0">
                <a:solidFill>
                  <a:srgbClr val="D4D4D8"/>
                </a:solidFill>
                <a:latin typeface="Inter"/>
              </a:defRPr>
            </a:pPr>
            <a:r>
              <a:t>Exasol's in-memory columnar engine scans only the columns each query needs. Materialized views refresh in seconds; the dashboard polls every 15–60s.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5303520" cy="34290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B981"/>
                </a:solidFill>
                <a:latin typeface="JetBrains Mono"/>
              </a:defRPr>
            </a:pPr>
            <a:r>
              <a:t>EXASOL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800" b="1" i="0">
                <a:solidFill>
                  <a:srgbClr val="F4F4F5"/>
                </a:solidFill>
                <a:latin typeface="JetBrains Mono"/>
              </a:defRPr>
            </a:pPr>
            <a:r>
              <a:t>13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06324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800" b="1" i="0">
                <a:solidFill>
                  <a:srgbClr val="F4F4F5"/>
                </a:solidFill>
                <a:latin typeface="JetBrains Mono"/>
              </a:defRPr>
            </a:pPr>
            <a:r>
              <a:t>5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06324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800" b="1" i="0">
                <a:solidFill>
                  <a:srgbClr val="F4F4F5"/>
                </a:solidFill>
                <a:latin typeface="JetBrains Mono"/>
              </a:defRPr>
            </a:pPr>
            <a:r>
              <a:t>1 mat. 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611880"/>
            <a:ext cx="4663440" cy="0"/>
          </a:xfrm>
          <a:prstGeom prst="line">
            <a:avLst/>
          </a:prstGeom>
          <a:ln w="12700">
            <a:solidFill>
              <a:srgbClr val="303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38404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F4F4F5"/>
                </a:solidFill>
                <a:latin typeface="Inter"/>
              </a:defRPr>
            </a:pPr>
            <a:r>
              <a:t>Views powering every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4480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JetBrains Mono"/>
              </a:defRPr>
            </a:pPr>
            <a:r>
              <a:t>VW_CUSTOMER_GOLDEN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JetBrains Mono"/>
              </a:defRPr>
            </a:pPr>
            <a:r>
              <a:t>VW_STOCKOUT_WARNINGS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JetBrains Mono"/>
              </a:defRPr>
            </a:pPr>
            <a:r>
              <a:t>VW_CHURN_RISK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JetBrains Mono"/>
              </a:defRPr>
            </a:pPr>
            <a:r>
              <a:t>VW_RETURNS_ABUSERS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A1A1AA"/>
                </a:solidFill>
                <a:latin typeface="JetBrains Mono"/>
              </a:defRPr>
            </a:pPr>
            <a:r>
              <a:t>MV_CUSTOMER_360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777240"/>
            <a:ext cx="5394960" cy="224028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0241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F4F4F5"/>
                </a:solidFill>
                <a:latin typeface="Inter"/>
              </a:defRPr>
            </a:pPr>
            <a:r>
              <a:t>LLM fallback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5087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F43F5E"/>
                </a:solidFill>
                <a:latin typeface="JetBrains Mono"/>
              </a:defRPr>
            </a:pPr>
            <a: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50876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F4F4F5"/>
                </a:solidFill>
                <a:latin typeface="JetBrains Mono"/>
              </a:defRPr>
            </a:pPr>
            <a:r>
              <a:t>openai/gpt-oss-20b (Groq)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A1A1AA"/>
                </a:solidFill>
                <a:latin typeface="JetBrains Mono"/>
              </a:defRPr>
            </a:pPr>
            <a:r>
              <a:t>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82880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F4F4F5"/>
                </a:solidFill>
                <a:latin typeface="JetBrains Mono"/>
              </a:defRPr>
            </a:pPr>
            <a:r>
              <a:t>qwen/qwen3.8-27b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4884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1" i="0">
                <a:solidFill>
                  <a:srgbClr val="A1A1AA"/>
                </a:solidFill>
                <a:latin typeface="JetBrains Mono"/>
              </a:defRPr>
            </a:pPr>
            <a:r>
              <a:t>SAFETY 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14884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0" i="0">
                <a:solidFill>
                  <a:srgbClr val="F4F4F5"/>
                </a:solidFill>
                <a:latin typeface="JetBrains Mono"/>
              </a:defRPr>
            </a:pPr>
            <a:r>
              <a:t>heuristic keyword classifier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46120"/>
            <a:ext cx="5394960" cy="25146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0160">
            <a:solidFill>
              <a:srgbClr val="3030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5661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400" b="1" i="0">
                <a:solidFill>
                  <a:srgbClr val="F4F4F5"/>
                </a:solidFill>
                <a:latin typeface="Inter"/>
              </a:defRPr>
            </a:pPr>
            <a:r>
              <a:t>Open source by design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4096512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406908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MIT License</a:t>
            </a:r>
          </a:p>
        </p:txBody>
      </p:sp>
      <p:sp>
        <p:nvSpPr>
          <p:cNvPr id="26" name="Oval 25"/>
          <p:cNvSpPr/>
          <p:nvPr/>
        </p:nvSpPr>
        <p:spPr>
          <a:xfrm>
            <a:off x="6473952" y="4425696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439826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No proprietary dependencies</a:t>
            </a:r>
          </a:p>
        </p:txBody>
      </p:sp>
      <p:sp>
        <p:nvSpPr>
          <p:cNvPr id="28" name="Oval 27"/>
          <p:cNvSpPr/>
          <p:nvPr/>
        </p:nvSpPr>
        <p:spPr>
          <a:xfrm>
            <a:off x="6473952" y="4754880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4727448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Exasol Personal Edition compatible</a:t>
            </a:r>
          </a:p>
        </p:txBody>
      </p:sp>
      <p:sp>
        <p:nvSpPr>
          <p:cNvPr id="30" name="Oval 29"/>
          <p:cNvSpPr/>
          <p:nvPr/>
        </p:nvSpPr>
        <p:spPr>
          <a:xfrm>
            <a:off x="6473952" y="5084064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93408" y="505663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000" b="0" i="0">
                <a:solidFill>
                  <a:srgbClr val="A1A1AA"/>
                </a:solidFill>
                <a:latin typeface="Inter"/>
              </a:defRPr>
            </a:pPr>
            <a:r>
              <a:t>Deterministic synthetic seeder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6016752"/>
            <a:ext cx="5257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2,480 rows/min · 5 source streams · 19 REST endpoints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565392"/>
            <a:ext cx="29260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PulseCart · Track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71717A"/>
                </a:solidFill>
                <a:latin typeface="JetBrains Mono"/>
              </a:defRPr>
            </a:pPr>
            <a:r>
              <a:t>12/12</a:t>
            </a:r>
          </a:p>
        </p:txBody>
      </p:sp>
      <p:sp>
        <p:nvSpPr>
          <p:cNvPr id="4" name="Oval 3"/>
          <p:cNvSpPr/>
          <p:nvPr/>
        </p:nvSpPr>
        <p:spPr>
          <a:xfrm>
            <a:off x="9281160" y="914400"/>
            <a:ext cx="2651760" cy="2651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84080" y="2286000"/>
            <a:ext cx="1737360" cy="1737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566928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900" b="1" i="0">
                <a:solidFill>
                  <a:srgbClr val="10B981"/>
                </a:solidFill>
                <a:latin typeface="JetBrains Mono"/>
              </a:defRPr>
            </a:pPr>
            <a:r>
              <a:t>BUILT ON EXASOL · POWERED BY GROQ 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53312"/>
            <a:ext cx="7955279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3600" b="1" i="0">
                <a:solidFill>
                  <a:srgbClr val="F4F4F5"/>
                </a:solidFill>
                <a:latin typeface="Inter"/>
              </a:defRPr>
            </a:pPr>
            <a:r>
              <a:t>Catch what quick-commerce</a:t>
            </a:r>
          </a:p>
          <a:p>
            <a:pPr algn="l">
              <a:spcAft>
                <a:spcPts val="200"/>
              </a:spcAft>
              <a:defRPr sz="3600" b="1" i="0">
                <a:solidFill>
                  <a:srgbClr val="F4F4F5"/>
                </a:solidFill>
                <a:latin typeface="Inter"/>
              </a:defRPr>
            </a:pPr>
            <a:r>
              <a:t>loses to silence.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3756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300" b="0" i="0">
                <a:solidFill>
                  <a:srgbClr val="D4D4D8"/>
                </a:solidFill>
                <a:latin typeface="Inter"/>
              </a:defRPr>
            </a:pPr>
            <a:r>
              <a:t>PulseCart recovers the 8–12% of revenue that quietly leaks every quarter — across fraud, stockouts, churn, and returns. One unified customer record. One operator dashboard. Built on Exasol.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0060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300" b="1" i="0">
                <a:solidFill>
                  <a:srgbClr val="10B981"/>
                </a:solidFill>
                <a:latin typeface="Inter"/>
              </a:defRPr>
            </a:pPr>
            <a:r>
              <a:t>Live demo 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8006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D4D4D8"/>
                </a:solidFill>
                <a:latin typeface="Inter"/>
              </a:defRPr>
            </a:pPr>
            <a:r>
              <a:t>GitHub repository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80060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  <a:defRPr sz="1200" b="1" i="0">
                <a:solidFill>
                  <a:srgbClr val="D4D4D8"/>
                </a:solidFill>
                <a:latin typeface="Inter"/>
              </a:defRPr>
            </a:pPr>
            <a:r>
              <a:t>3-min video walkthrough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5074920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  <a:defRPr sz="800" b="0" i="0">
                <a:solidFill>
                  <a:srgbClr val="A1A1AA"/>
                </a:solidFill>
                <a:latin typeface="JetBrains Mono"/>
              </a:defRPr>
            </a:pPr>
            <a:r>
              <a:t>TRACK 02 · CUSTOMERS, CHANNELS &amp; DEMAND</a:t>
            </a:r>
          </a:p>
          <a:p>
            <a:pPr algn="r">
              <a:spcAft>
                <a:spcPts val="200"/>
              </a:spcAft>
              <a:defRPr sz="800" b="0" i="0">
                <a:solidFill>
                  <a:srgbClr val="A1A1AA"/>
                </a:solidFill>
                <a:latin typeface="JetBrains Mono"/>
              </a:defRPr>
            </a:pPr>
            <a:r>
              <a:t>HACKATHON SUBMISSION · 2026</a:t>
            </a:r>
          </a:p>
          <a:p>
            <a:pPr algn="r">
              <a:spcAft>
                <a:spcPts val="200"/>
              </a:spcAft>
              <a:defRPr sz="800" b="0" i="0">
                <a:solidFill>
                  <a:srgbClr val="A1A1AA"/>
                </a:solidFill>
                <a:latin typeface="JetBrains Mono"/>
              </a:defRPr>
            </a:pPr>
            <a:r>
              <a:t>MIT LICENSE · OPEN SOURCE</a:t>
            </a:r>
          </a:p>
          <a:p>
            <a:pPr algn="r">
              <a:spcAft>
                <a:spcPts val="200"/>
              </a:spcAft>
              <a:defRPr sz="800" b="0" i="0">
                <a:solidFill>
                  <a:srgbClr val="A1A1AA"/>
                </a:solidFill>
                <a:latin typeface="JetBrains Mono"/>
              </a:defRPr>
            </a:pPr>
            <a:r>
              <a:t>BUILT IN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PulseCart — Quick-commerce operator intelligence</dc:title>
  <dc:subject>Track 02 · Customers, Channels &amp; Demand</dc:subject>
  <dc:creator>PulseCart team</dc:creator>
  <cp:keywords>PulseCart, Exasol, quick-commerce, hackathon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